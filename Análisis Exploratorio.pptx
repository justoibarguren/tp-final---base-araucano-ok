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4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7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12/3/2025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47F38-B617-4D2F-AE0A-013F0C4D2C57}" type="datetimeFigureOut">
              <a:rPr lang="en-US" dirty="0"/>
              <a:t>12/3/2025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99C9-84D9-46D2-A11E-BCF8A720529D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FA754-D5C3-4E66-96A6-867B257F58DC}" type="datetimeFigureOut">
              <a:rPr lang="en-US" dirty="0"/>
              <a:t>12/3/2025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12/3/2025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8" r:id="rId2"/>
    <p:sldLayoutId id="2147483651" r:id="rId3"/>
    <p:sldLayoutId id="2147483669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Análisis Exploratorio, ANOVA y Regresión – Base Araucano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s-ES" sz="3200" dirty="0"/>
              <a:t>Ciencia de Datos para Economía y Negocios – Trabajo </a:t>
            </a:r>
            <a:r>
              <a:rPr lang="es-ES" sz="3200" dirty="0" smtClean="0"/>
              <a:t>Final 2025</a:t>
            </a:r>
          </a:p>
          <a:p>
            <a:r>
              <a:rPr lang="es-ES" sz="1900" dirty="0"/>
              <a:t>JUAN VALDMAN </a:t>
            </a:r>
            <a:r>
              <a:rPr lang="es-ES" sz="1900" dirty="0" smtClean="0"/>
              <a:t>901753</a:t>
            </a:r>
            <a:endParaRPr lang="es-ES" sz="1900" dirty="0"/>
          </a:p>
          <a:p>
            <a:r>
              <a:rPr lang="es-ES" sz="1900" dirty="0"/>
              <a:t>JUSTO IBARGUREN 908605</a:t>
            </a:r>
            <a:endParaRPr lang="es-ES" sz="1900" dirty="0"/>
          </a:p>
        </p:txBody>
      </p:sp>
    </p:spTree>
    <p:extLst>
      <p:ext uri="{BB962C8B-B14F-4D97-AF65-F5344CB8AC3E}">
        <p14:creationId xmlns:p14="http://schemas.microsoft.com/office/powerpoint/2010/main" val="20413882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z="3600" b="1" dirty="0" smtClean="0">
                <a:solidFill>
                  <a:schemeClr val="accent5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Introducción</a:t>
            </a:r>
            <a:endParaRPr lang="es-ES" sz="3600" b="1" dirty="0">
              <a:solidFill>
                <a:schemeClr val="accent5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Marcador de contenido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ES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•</a:t>
            </a:r>
            <a:r>
              <a:rPr lang="es-ES" dirty="0">
                <a:latin typeface="Calibri" panose="020F0502020204030204" pitchFamily="34" charset="0"/>
                <a:cs typeface="Calibri" panose="020F0502020204030204" pitchFamily="34" charset="0"/>
              </a:rPr>
              <a:t> El trabajo analiza la Base Araucano, que contiene información socioeconómica de docentes.</a:t>
            </a:r>
            <a:br>
              <a:rPr lang="es-ES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s-ES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•</a:t>
            </a:r>
            <a:r>
              <a:rPr lang="es-ES" dirty="0">
                <a:latin typeface="Calibri" panose="020F0502020204030204" pitchFamily="34" charset="0"/>
                <a:cs typeface="Calibri" panose="020F0502020204030204" pitchFamily="34" charset="0"/>
              </a:rPr>
              <a:t> El objetivo es aplicar EDA, tratamiento de outliers, ANOVA y regresión.</a:t>
            </a:r>
            <a:br>
              <a:rPr lang="es-ES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s-ES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•</a:t>
            </a:r>
            <a:r>
              <a:rPr lang="es-ES" dirty="0">
                <a:latin typeface="Calibri" panose="020F0502020204030204" pitchFamily="34" charset="0"/>
                <a:cs typeface="Calibri" panose="020F0502020204030204" pitchFamily="34" charset="0"/>
              </a:rPr>
              <a:t> Buscamos entender cómo varía el salario entre regiones y qué factores lo explican.</a:t>
            </a:r>
            <a:br>
              <a:rPr lang="es-ES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s-ES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•</a:t>
            </a:r>
            <a:r>
              <a:rPr lang="es-ES" dirty="0">
                <a:latin typeface="Calibri" panose="020F0502020204030204" pitchFamily="34" charset="0"/>
                <a:cs typeface="Calibri" panose="020F0502020204030204" pitchFamily="34" charset="0"/>
              </a:rPr>
              <a:t> El foco está en comparar niveles salariales y evaluar determinantes individuales.</a:t>
            </a:r>
          </a:p>
        </p:txBody>
      </p:sp>
    </p:spTree>
    <p:extLst>
      <p:ext uri="{BB962C8B-B14F-4D97-AF65-F5344CB8AC3E}">
        <p14:creationId xmlns:p14="http://schemas.microsoft.com/office/powerpoint/2010/main" val="41383640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z="36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Descripción</a:t>
            </a:r>
            <a:r>
              <a:rPr lang="es-ES" dirty="0"/>
              <a:t> </a:t>
            </a:r>
            <a:r>
              <a:rPr lang="es-ES" sz="36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del Dataset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s-ES" dirty="0">
                <a:solidFill>
                  <a:schemeClr val="accent5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•</a:t>
            </a:r>
            <a:r>
              <a:rPr lang="es-ES" dirty="0">
                <a:latin typeface="Calibri" panose="020F0502020204030204" pitchFamily="34" charset="0"/>
                <a:cs typeface="Calibri" panose="020F0502020204030204" pitchFamily="34" charset="0"/>
              </a:rPr>
              <a:t> Variables principales: salario, edad, género, tipo de título, rama y región.</a:t>
            </a:r>
            <a:br>
              <a:rPr lang="es-ES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s-ES" dirty="0">
                <a:solidFill>
                  <a:schemeClr val="accent5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•</a:t>
            </a:r>
            <a:r>
              <a:rPr lang="es-ES" dirty="0">
                <a:latin typeface="Calibri" panose="020F0502020204030204" pitchFamily="34" charset="0"/>
                <a:cs typeface="Calibri" panose="020F0502020204030204" pitchFamily="34" charset="0"/>
              </a:rPr>
              <a:t> La base tiene un tamaño grande, con cientos de miles de observaciones.</a:t>
            </a:r>
            <a:br>
              <a:rPr lang="es-ES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s-ES" dirty="0">
                <a:solidFill>
                  <a:schemeClr val="accent5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•</a:t>
            </a:r>
            <a:r>
              <a:rPr lang="es-ES" dirty="0">
                <a:latin typeface="Calibri" panose="020F0502020204030204" pitchFamily="34" charset="0"/>
                <a:cs typeface="Calibri" panose="020F0502020204030204" pitchFamily="34" charset="0"/>
              </a:rPr>
              <a:t> Se realizó limpieza: renombrado de columnas, creación de edad y tratamiento de NA críticos.</a:t>
            </a:r>
            <a:br>
              <a:rPr lang="es-ES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s-ES" dirty="0">
                <a:solidFill>
                  <a:schemeClr val="accent5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•</a:t>
            </a:r>
            <a:r>
              <a:rPr lang="es-ES" dirty="0">
                <a:latin typeface="Calibri" panose="020F0502020204030204" pitchFamily="34" charset="0"/>
                <a:cs typeface="Calibri" panose="020F0502020204030204" pitchFamily="34" charset="0"/>
              </a:rPr>
              <a:t> El dataset final quedó preparado para análisis estadístico y modelado.</a:t>
            </a:r>
          </a:p>
        </p:txBody>
      </p:sp>
    </p:spTree>
    <p:extLst>
      <p:ext uri="{BB962C8B-B14F-4D97-AF65-F5344CB8AC3E}">
        <p14:creationId xmlns:p14="http://schemas.microsoft.com/office/powerpoint/2010/main" val="22678536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36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Metodología del Análisis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ES" dirty="0">
                <a:solidFill>
                  <a:schemeClr val="accent5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•</a:t>
            </a:r>
            <a:r>
              <a:rPr lang="es-ES" dirty="0">
                <a:latin typeface="Calibri" panose="020F0502020204030204" pitchFamily="34" charset="0"/>
                <a:cs typeface="Calibri" panose="020F0502020204030204" pitchFamily="34" charset="0"/>
              </a:rPr>
              <a:t> Limpieza inicial y detección de outliers mediante percentiles.</a:t>
            </a:r>
            <a:br>
              <a:rPr lang="es-ES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s-ES" dirty="0">
                <a:solidFill>
                  <a:schemeClr val="accent5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• </a:t>
            </a:r>
            <a:r>
              <a:rPr lang="es-ES" dirty="0">
                <a:latin typeface="Calibri" panose="020F0502020204030204" pitchFamily="34" charset="0"/>
                <a:cs typeface="Calibri" panose="020F0502020204030204" pitchFamily="34" charset="0"/>
              </a:rPr>
              <a:t>Estadísticas descriptivas: medias, medianas, histogramas y boxplots.</a:t>
            </a:r>
            <a:br>
              <a:rPr lang="es-ES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s-ES" dirty="0">
                <a:solidFill>
                  <a:schemeClr val="accent5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•</a:t>
            </a:r>
            <a:r>
              <a:rPr lang="es-ES" dirty="0">
                <a:latin typeface="Calibri" panose="020F0502020204030204" pitchFamily="34" charset="0"/>
                <a:cs typeface="Calibri" panose="020F0502020204030204" pitchFamily="34" charset="0"/>
              </a:rPr>
              <a:t> ANOVA para comparar salarios entre regiones + test de supuestos (Levene).</a:t>
            </a:r>
            <a:br>
              <a:rPr lang="es-ES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s-ES" dirty="0">
                <a:solidFill>
                  <a:schemeClr val="accent5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•</a:t>
            </a:r>
            <a:r>
              <a:rPr lang="es-ES" dirty="0">
                <a:latin typeface="Calibri" panose="020F0502020204030204" pitchFamily="34" charset="0"/>
                <a:cs typeface="Calibri" panose="020F0502020204030204" pitchFamily="34" charset="0"/>
              </a:rPr>
              <a:t> Test no paramétrico Kruskal–Wallis ante varianzas heterogéneas.</a:t>
            </a:r>
            <a:br>
              <a:rPr lang="es-ES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s-ES" dirty="0">
                <a:solidFill>
                  <a:schemeClr val="accent5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•</a:t>
            </a:r>
            <a:r>
              <a:rPr lang="es-ES" dirty="0">
                <a:latin typeface="Calibri" panose="020F0502020204030204" pitchFamily="34" charset="0"/>
                <a:cs typeface="Calibri" panose="020F0502020204030204" pitchFamily="34" charset="0"/>
              </a:rPr>
              <a:t> Regresión lineal múltiple para controlar edad, género, gestión, título y rama</a:t>
            </a:r>
            <a:r>
              <a:rPr lang="es-E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708498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/>
          </p:nvPr>
        </p:nvSpPr>
        <p:spPr>
          <a:xfrm>
            <a:off x="798023" y="698577"/>
            <a:ext cx="5827222" cy="1371600"/>
          </a:xfrm>
        </p:spPr>
        <p:txBody>
          <a:bodyPr>
            <a:noAutofit/>
          </a:bodyPr>
          <a:lstStyle/>
          <a:p>
            <a:r>
              <a:rPr lang="es-ES" sz="36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EDA (Exploración Inicial)</a:t>
            </a:r>
          </a:p>
        </p:txBody>
      </p:sp>
      <p:pic>
        <p:nvPicPr>
          <p:cNvPr id="10" name="Marcador de contenido 9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27352" y="2161050"/>
            <a:ext cx="4097338" cy="2560836"/>
          </a:xfrm>
        </p:spPr>
      </p:pic>
      <p:sp>
        <p:nvSpPr>
          <p:cNvPr id="6" name="Marcador de texto 5"/>
          <p:cNvSpPr>
            <a:spLocks noGrp="1"/>
          </p:cNvSpPr>
          <p:nvPr>
            <p:ph type="body" sz="half" idx="2"/>
          </p:nvPr>
        </p:nvSpPr>
        <p:spPr>
          <a:xfrm>
            <a:off x="798023" y="3001200"/>
            <a:ext cx="5827222" cy="3042153"/>
          </a:xfrm>
        </p:spPr>
        <p:txBody>
          <a:bodyPr>
            <a:noAutofit/>
          </a:bodyPr>
          <a:lstStyle/>
          <a:p>
            <a:r>
              <a:rPr lang="es-ES" sz="2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•</a:t>
            </a:r>
            <a:r>
              <a:rPr lang="es-ES" sz="2400" dirty="0">
                <a:latin typeface="Calibri" panose="020F0502020204030204" pitchFamily="34" charset="0"/>
                <a:cs typeface="Calibri" panose="020F0502020204030204" pitchFamily="34" charset="0"/>
              </a:rPr>
              <a:t> La distribución salarial es asimétrica con valores altos en la cola derecha.</a:t>
            </a:r>
            <a:br>
              <a:rPr lang="es-ES" sz="24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s-ES" sz="2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•</a:t>
            </a:r>
            <a:r>
              <a:rPr lang="es-ES" sz="2400" dirty="0">
                <a:latin typeface="Calibri" panose="020F0502020204030204" pitchFamily="34" charset="0"/>
                <a:cs typeface="Calibri" panose="020F0502020204030204" pitchFamily="34" charset="0"/>
              </a:rPr>
              <a:t> Ya se observan diferencias de salario visibles entre regiones.</a:t>
            </a:r>
            <a:br>
              <a:rPr lang="es-ES" sz="24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s-ES" sz="2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•</a:t>
            </a:r>
            <a:r>
              <a:rPr lang="es-ES" sz="2400" dirty="0">
                <a:latin typeface="Calibri" panose="020F0502020204030204" pitchFamily="34" charset="0"/>
                <a:cs typeface="Calibri" panose="020F0502020204030204" pitchFamily="34" charset="0"/>
              </a:rPr>
              <a:t> Se identificaron outliers, pero se usaron límites percentiles para evitar distorsiones.</a:t>
            </a:r>
          </a:p>
        </p:txBody>
      </p:sp>
      <p:cxnSp>
        <p:nvCxnSpPr>
          <p:cNvPr id="8" name="Conector recto 7"/>
          <p:cNvCxnSpPr/>
          <p:nvPr/>
        </p:nvCxnSpPr>
        <p:spPr>
          <a:xfrm>
            <a:off x="1005840" y="2277687"/>
            <a:ext cx="5256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ángulo 8"/>
          <p:cNvSpPr/>
          <p:nvPr/>
        </p:nvSpPr>
        <p:spPr>
          <a:xfrm>
            <a:off x="1263535" y="2801696"/>
            <a:ext cx="4098174" cy="19950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509050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505784" y="573887"/>
            <a:ext cx="5148553" cy="1371600"/>
          </a:xfrm>
        </p:spPr>
        <p:txBody>
          <a:bodyPr>
            <a:normAutofit/>
          </a:bodyPr>
          <a:lstStyle/>
          <a:p>
            <a:r>
              <a:rPr lang="es-ES" sz="36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ANOVA por Región </a:t>
            </a:r>
          </a:p>
        </p:txBody>
      </p:sp>
      <p:pic>
        <p:nvPicPr>
          <p:cNvPr id="9" name="Marcador de contenido 8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65691" y="2036618"/>
            <a:ext cx="4022725" cy="2815907"/>
          </a:xfrm>
        </p:spPr>
      </p:pic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977928" y="2136061"/>
            <a:ext cx="5747068" cy="3566469"/>
          </a:xfrm>
        </p:spPr>
        <p:txBody>
          <a:bodyPr>
            <a:noAutofit/>
          </a:bodyPr>
          <a:lstStyle/>
          <a:p>
            <a:r>
              <a:rPr lang="es-ES" sz="2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•</a:t>
            </a:r>
            <a:r>
              <a:rPr lang="es-ES" sz="2400" dirty="0">
                <a:latin typeface="Calibri" panose="020F0502020204030204" pitchFamily="34" charset="0"/>
                <a:cs typeface="Calibri" panose="020F0502020204030204" pitchFamily="34" charset="0"/>
              </a:rPr>
              <a:t> El ANOVA muestra diferencias significativas entre regiones (F = 2902, p &lt; 2e-16).</a:t>
            </a:r>
            <a:br>
              <a:rPr lang="es-ES" sz="24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s-ES" sz="2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•</a:t>
            </a:r>
            <a:r>
              <a:rPr lang="es-ES" sz="2400" dirty="0">
                <a:latin typeface="Calibri" panose="020F0502020204030204" pitchFamily="34" charset="0"/>
                <a:cs typeface="Calibri" panose="020F0502020204030204" pitchFamily="34" charset="0"/>
              </a:rPr>
              <a:t> Indica que el salario promedio no es igual en todas las regiones.</a:t>
            </a:r>
            <a:br>
              <a:rPr lang="es-ES" sz="24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s-ES" sz="2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•</a:t>
            </a:r>
            <a:r>
              <a:rPr lang="es-ES" sz="2400" dirty="0">
                <a:latin typeface="Calibri" panose="020F0502020204030204" pitchFamily="34" charset="0"/>
                <a:cs typeface="Calibri" panose="020F0502020204030204" pitchFamily="34" charset="0"/>
              </a:rPr>
              <a:t> El test de Levene rechaza homogeneidad de varianzas (p &lt; 2.2e-16).</a:t>
            </a:r>
            <a:br>
              <a:rPr lang="es-ES" sz="24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s-ES" sz="2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•</a:t>
            </a:r>
            <a:r>
              <a:rPr lang="es-ES" sz="2400" dirty="0">
                <a:latin typeface="Calibri" panose="020F0502020204030204" pitchFamily="34" charset="0"/>
                <a:cs typeface="Calibri" panose="020F0502020204030204" pitchFamily="34" charset="0"/>
              </a:rPr>
              <a:t> Se interpreta con cautela y se complementa con un test no paramétrico</a:t>
            </a:r>
          </a:p>
        </p:txBody>
      </p:sp>
      <p:cxnSp>
        <p:nvCxnSpPr>
          <p:cNvPr id="6" name="Conector recto 5"/>
          <p:cNvCxnSpPr/>
          <p:nvPr/>
        </p:nvCxnSpPr>
        <p:spPr>
          <a:xfrm>
            <a:off x="1505784" y="2036618"/>
            <a:ext cx="4728761" cy="831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cto 7"/>
          <p:cNvCxnSpPr/>
          <p:nvPr/>
        </p:nvCxnSpPr>
        <p:spPr>
          <a:xfrm>
            <a:off x="1371600" y="2901142"/>
            <a:ext cx="3665913" cy="8313"/>
          </a:xfrm>
          <a:prstGeom prst="line">
            <a:avLst/>
          </a:prstGeom>
          <a:ln>
            <a:solidFill>
              <a:schemeClr val="bg1"/>
            </a:solidFill>
            <a:headEnd type="arrow" w="med" len="med"/>
            <a:tailEnd type="arrow" w="med" len="med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063392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36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Test no paramétrico (Kruskal–Wallis)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s-ES" dirty="0">
                <a:solidFill>
                  <a:schemeClr val="accent5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• </a:t>
            </a:r>
            <a:r>
              <a:rPr lang="es-ES" dirty="0">
                <a:latin typeface="Calibri" panose="020F0502020204030204" pitchFamily="34" charset="0"/>
                <a:cs typeface="Calibri" panose="020F0502020204030204" pitchFamily="34" charset="0"/>
              </a:rPr>
              <a:t>Resultado: chi² = 19.233, p &lt; 2.2e-16.</a:t>
            </a:r>
            <a:br>
              <a:rPr lang="es-ES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s-ES" dirty="0">
                <a:solidFill>
                  <a:schemeClr val="accent5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• </a:t>
            </a:r>
            <a:r>
              <a:rPr lang="es-ES" dirty="0">
                <a:latin typeface="Calibri" panose="020F0502020204030204" pitchFamily="34" charset="0"/>
                <a:cs typeface="Calibri" panose="020F0502020204030204" pitchFamily="34" charset="0"/>
              </a:rPr>
              <a:t>Confirma diferencias entre regiones sin asumir normalidad ni varianzas iguales.</a:t>
            </a:r>
            <a:br>
              <a:rPr lang="es-ES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s-ES" dirty="0">
                <a:solidFill>
                  <a:schemeClr val="accent5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•</a:t>
            </a:r>
            <a:r>
              <a:rPr lang="es-ES" dirty="0">
                <a:latin typeface="Calibri" panose="020F0502020204030204" pitchFamily="34" charset="0"/>
                <a:cs typeface="Calibri" panose="020F0502020204030204" pitchFamily="34" charset="0"/>
              </a:rPr>
              <a:t> Refuerza la conclusión del ANOVA y aumenta la robustez del análisis.</a:t>
            </a:r>
          </a:p>
        </p:txBody>
      </p:sp>
    </p:spTree>
    <p:extLst>
      <p:ext uri="{BB962C8B-B14F-4D97-AF65-F5344CB8AC3E}">
        <p14:creationId xmlns:p14="http://schemas.microsoft.com/office/powerpoint/2010/main" val="27246366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sz="36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Comparaciones Post-Hoc (Tukey)</a:t>
            </a:r>
          </a:p>
        </p:txBody>
      </p:sp>
      <p:sp>
        <p:nvSpPr>
          <p:cNvPr id="8" name="Marcador de contenido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s-ES" dirty="0">
                <a:solidFill>
                  <a:schemeClr val="accent5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•</a:t>
            </a:r>
            <a:r>
              <a:rPr lang="es-ES" dirty="0">
                <a:latin typeface="Calibri" panose="020F0502020204030204" pitchFamily="34" charset="0"/>
                <a:cs typeface="Calibri" panose="020F0502020204030204" pitchFamily="34" charset="0"/>
              </a:rPr>
              <a:t> Casi todas las comparaciones entre regiones son significativas.</a:t>
            </a:r>
            <a:br>
              <a:rPr lang="es-ES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s-ES" dirty="0">
                <a:solidFill>
                  <a:schemeClr val="accent5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•</a:t>
            </a:r>
            <a:r>
              <a:rPr lang="es-ES" dirty="0">
                <a:latin typeface="Calibri" panose="020F0502020204030204" pitchFamily="34" charset="0"/>
                <a:cs typeface="Calibri" panose="020F0502020204030204" pitchFamily="34" charset="0"/>
              </a:rPr>
              <a:t> Región 7 presenta los salarios más altos en casi todos los contrastes.</a:t>
            </a:r>
            <a:br>
              <a:rPr lang="es-ES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s-ES" dirty="0">
                <a:solidFill>
                  <a:schemeClr val="accent5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•</a:t>
            </a:r>
            <a:r>
              <a:rPr lang="es-ES" dirty="0">
                <a:latin typeface="Calibri" panose="020F0502020204030204" pitchFamily="34" charset="0"/>
                <a:cs typeface="Calibri" panose="020F0502020204030204" pitchFamily="34" charset="0"/>
              </a:rPr>
              <a:t> Única comparación no significativa: Región 6 vs Región 3 (p ≈ 0.93).</a:t>
            </a:r>
            <a:br>
              <a:rPr lang="es-ES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s-ES" dirty="0">
                <a:solidFill>
                  <a:schemeClr val="accent5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•</a:t>
            </a:r>
            <a:r>
              <a:rPr lang="es-ES" dirty="0">
                <a:latin typeface="Calibri" panose="020F0502020204030204" pitchFamily="34" charset="0"/>
                <a:cs typeface="Calibri" panose="020F0502020204030204" pitchFamily="34" charset="0"/>
              </a:rPr>
              <a:t> Las diferencias son grandes también en términos monetarios</a:t>
            </a:r>
          </a:p>
        </p:txBody>
      </p:sp>
      <p:pic>
        <p:nvPicPr>
          <p:cNvPr id="7" name="Imagen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7215" y="2202873"/>
            <a:ext cx="3877302" cy="2714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75139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/>
          <p:cNvSpPr>
            <a:spLocks noGrp="1"/>
          </p:cNvSpPr>
          <p:nvPr>
            <p:ph type="title"/>
          </p:nvPr>
        </p:nvSpPr>
        <p:spPr>
          <a:xfrm>
            <a:off x="1293810" y="1388534"/>
            <a:ext cx="5082051" cy="1371600"/>
          </a:xfrm>
        </p:spPr>
        <p:txBody>
          <a:bodyPr>
            <a:normAutofit/>
          </a:bodyPr>
          <a:lstStyle/>
          <a:p>
            <a:r>
              <a:rPr lang="es-ES" sz="32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Regresión Lineal Múltiple</a:t>
            </a:r>
          </a:p>
        </p:txBody>
      </p:sp>
      <p:pic>
        <p:nvPicPr>
          <p:cNvPr id="8" name="Marcador de contenido 7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2875" y="2055317"/>
            <a:ext cx="4395788" cy="2747367"/>
          </a:xfrm>
        </p:spPr>
      </p:pic>
      <p:sp>
        <p:nvSpPr>
          <p:cNvPr id="7" name="Marcador de texto 6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5082050" cy="2438404"/>
          </a:xfrm>
        </p:spPr>
        <p:txBody>
          <a:bodyPr>
            <a:noAutofit/>
          </a:bodyPr>
          <a:lstStyle/>
          <a:p>
            <a:r>
              <a:rPr lang="es-ES" dirty="0">
                <a:solidFill>
                  <a:schemeClr val="accent5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•</a:t>
            </a:r>
            <a:r>
              <a:rPr lang="es-ES" dirty="0">
                <a:latin typeface="Calibri" panose="020F0502020204030204" pitchFamily="34" charset="0"/>
                <a:cs typeface="Calibri" panose="020F0502020204030204" pitchFamily="34" charset="0"/>
              </a:rPr>
              <a:t> Se controla por edad, género, gestión, tipo de título y rama.</a:t>
            </a:r>
            <a:br>
              <a:rPr lang="es-ES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s-ES" dirty="0">
                <a:solidFill>
                  <a:schemeClr val="accent5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•</a:t>
            </a:r>
            <a:r>
              <a:rPr lang="es-ES" dirty="0">
                <a:latin typeface="Calibri" panose="020F0502020204030204" pitchFamily="34" charset="0"/>
                <a:cs typeface="Calibri" panose="020F0502020204030204" pitchFamily="34" charset="0"/>
              </a:rPr>
              <a:t> Aun controlando por estas variables, la región sigue siendo un fuerte predictor del salario.</a:t>
            </a:r>
            <a:br>
              <a:rPr lang="es-ES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s-ES" dirty="0">
                <a:solidFill>
                  <a:schemeClr val="accent5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• </a:t>
            </a:r>
            <a:r>
              <a:rPr lang="es-ES" dirty="0">
                <a:latin typeface="Calibri" panose="020F0502020204030204" pitchFamily="34" charset="0"/>
                <a:cs typeface="Calibri" panose="020F0502020204030204" pitchFamily="34" charset="0"/>
              </a:rPr>
              <a:t>Los coeficientes tienen sentido económico (mayor educación → mayor salario).</a:t>
            </a:r>
            <a:br>
              <a:rPr lang="es-ES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s-ES" dirty="0">
                <a:solidFill>
                  <a:schemeClr val="accent5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• </a:t>
            </a:r>
            <a:r>
              <a:rPr lang="es-ES" dirty="0">
                <a:latin typeface="Calibri" panose="020F0502020204030204" pitchFamily="34" charset="0"/>
                <a:cs typeface="Calibri" panose="020F0502020204030204" pitchFamily="34" charset="0"/>
              </a:rPr>
              <a:t>Valores VIF entre 1 y 2 → no hay </a:t>
            </a:r>
            <a:r>
              <a:rPr lang="es-ES" dirty="0" smtClean="0">
                <a:latin typeface="Calibri" panose="020F0502020204030204" pitchFamily="34" charset="0"/>
                <a:cs typeface="Calibri" panose="020F0502020204030204" pitchFamily="34" charset="0"/>
              </a:rPr>
              <a:t>co-linealidad </a:t>
            </a:r>
            <a:r>
              <a:rPr lang="es-ES" dirty="0">
                <a:latin typeface="Calibri" panose="020F0502020204030204" pitchFamily="34" charset="0"/>
                <a:cs typeface="Calibri" panose="020F0502020204030204" pitchFamily="34" charset="0"/>
              </a:rPr>
              <a:t>preocupante.</a:t>
            </a:r>
          </a:p>
        </p:txBody>
      </p:sp>
    </p:spTree>
    <p:extLst>
      <p:ext uri="{BB962C8B-B14F-4D97-AF65-F5344CB8AC3E}">
        <p14:creationId xmlns:p14="http://schemas.microsoft.com/office/powerpoint/2010/main" val="12278207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32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Interpretación General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s-ES" dirty="0">
                <a:solidFill>
                  <a:schemeClr val="accent5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•</a:t>
            </a:r>
            <a:r>
              <a:rPr lang="es-ES" dirty="0">
                <a:latin typeface="Calibri" panose="020F0502020204030204" pitchFamily="34" charset="0"/>
                <a:cs typeface="Calibri" panose="020F0502020204030204" pitchFamily="34" charset="0"/>
              </a:rPr>
              <a:t> La región es un determinante muy importante del salario docente.</a:t>
            </a:r>
            <a:br>
              <a:rPr lang="es-ES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s-ES" dirty="0">
                <a:solidFill>
                  <a:schemeClr val="accent5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•</a:t>
            </a:r>
            <a:r>
              <a:rPr lang="es-ES" dirty="0">
                <a:latin typeface="Calibri" panose="020F0502020204030204" pitchFamily="34" charset="0"/>
                <a:cs typeface="Calibri" panose="020F0502020204030204" pitchFamily="34" charset="0"/>
              </a:rPr>
              <a:t> Las diferencias encontradas son tanto estadísticamente como económicamente relevantes.</a:t>
            </a:r>
            <a:br>
              <a:rPr lang="es-ES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s-ES" dirty="0">
                <a:solidFill>
                  <a:schemeClr val="accent5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•</a:t>
            </a:r>
            <a:r>
              <a:rPr lang="es-ES" dirty="0">
                <a:latin typeface="Calibri" panose="020F0502020204030204" pitchFamily="34" charset="0"/>
                <a:cs typeface="Calibri" panose="020F0502020204030204" pitchFamily="34" charset="0"/>
              </a:rPr>
              <a:t> Los distintos métodos (ANOVA, KW, regresión) coinciden en la misma conclusión.</a:t>
            </a:r>
            <a:br>
              <a:rPr lang="es-ES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s-ES" dirty="0">
                <a:solidFill>
                  <a:schemeClr val="accent5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•</a:t>
            </a:r>
            <a:r>
              <a:rPr lang="es-ES" dirty="0">
                <a:latin typeface="Calibri" panose="020F0502020204030204" pitchFamily="34" charset="0"/>
                <a:cs typeface="Calibri" panose="020F0502020204030204" pitchFamily="34" charset="0"/>
              </a:rPr>
              <a:t> La evidencia es robusta y consistente entre sí.</a:t>
            </a:r>
          </a:p>
        </p:txBody>
      </p:sp>
    </p:spTree>
    <p:extLst>
      <p:ext uri="{BB962C8B-B14F-4D97-AF65-F5344CB8AC3E}">
        <p14:creationId xmlns:p14="http://schemas.microsoft.com/office/powerpoint/2010/main" val="42668090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32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Conclusión Final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s-ES" dirty="0">
                <a:solidFill>
                  <a:schemeClr val="accent5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• </a:t>
            </a:r>
            <a:r>
              <a:rPr lang="es-ES" dirty="0">
                <a:latin typeface="Calibri" panose="020F0502020204030204" pitchFamily="34" charset="0"/>
                <a:cs typeface="Calibri" panose="020F0502020204030204" pitchFamily="34" charset="0"/>
              </a:rPr>
              <a:t>Existen diferencias salariales significativas entre regiones.</a:t>
            </a:r>
            <a:br>
              <a:rPr lang="es-ES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s-ES" dirty="0">
                <a:solidFill>
                  <a:schemeClr val="accent5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•</a:t>
            </a:r>
            <a:r>
              <a:rPr lang="es-ES" dirty="0">
                <a:latin typeface="Calibri" panose="020F0502020204030204" pitchFamily="34" charset="0"/>
                <a:cs typeface="Calibri" panose="020F0502020204030204" pitchFamily="34" charset="0"/>
              </a:rPr>
              <a:t> Región 7 destaca por tener los salarios más altos.</a:t>
            </a:r>
            <a:br>
              <a:rPr lang="es-ES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s-ES" dirty="0">
                <a:solidFill>
                  <a:schemeClr val="accent5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• </a:t>
            </a:r>
            <a:r>
              <a:rPr lang="es-ES" dirty="0">
                <a:latin typeface="Calibri" panose="020F0502020204030204" pitchFamily="34" charset="0"/>
                <a:cs typeface="Calibri" panose="020F0502020204030204" pitchFamily="34" charset="0"/>
              </a:rPr>
              <a:t>Las brechas se mantienen incluso ajustando por edad, género, título, rama y gestión.</a:t>
            </a:r>
            <a:br>
              <a:rPr lang="es-ES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s-ES" dirty="0">
                <a:solidFill>
                  <a:schemeClr val="accent5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•</a:t>
            </a:r>
            <a:r>
              <a:rPr lang="es-ES" dirty="0">
                <a:latin typeface="Calibri" panose="020F0502020204030204" pitchFamily="34" charset="0"/>
                <a:cs typeface="Calibri" panose="020F0502020204030204" pitchFamily="34" charset="0"/>
              </a:rPr>
              <a:t> Esto sugiere desigualdades territoriales estructurales en los ingresos docentes.</a:t>
            </a:r>
            <a:br>
              <a:rPr lang="es-ES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s-ES" dirty="0">
                <a:solidFill>
                  <a:schemeClr val="accent5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•</a:t>
            </a:r>
            <a:r>
              <a:rPr lang="es-ES" dirty="0">
                <a:latin typeface="Calibri" panose="020F0502020204030204" pitchFamily="34" charset="0"/>
                <a:cs typeface="Calibri" panose="020F0502020204030204" pitchFamily="34" charset="0"/>
              </a:rPr>
              <a:t> Los resultados pueden servir para discutir políticas salariales y financiamiento educativo.</a:t>
            </a:r>
          </a:p>
        </p:txBody>
      </p:sp>
    </p:spTree>
    <p:extLst>
      <p:ext uri="{BB962C8B-B14F-4D97-AF65-F5344CB8AC3E}">
        <p14:creationId xmlns:p14="http://schemas.microsoft.com/office/powerpoint/2010/main" val="14753223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ánico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27</TotalTime>
  <Words>190</Words>
  <Application>Microsoft Office PowerPoint</Application>
  <PresentationFormat>Panorámica</PresentationFormat>
  <Paragraphs>24</Paragraphs>
  <Slides>11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5" baseType="lpstr">
      <vt:lpstr>Arial</vt:lpstr>
      <vt:lpstr>Calibri</vt:lpstr>
      <vt:lpstr>Garamond</vt:lpstr>
      <vt:lpstr>Orgánico</vt:lpstr>
      <vt:lpstr>Análisis Exploratorio, ANOVA y Regresión – Base Araucano</vt:lpstr>
      <vt:lpstr>Introducción</vt:lpstr>
      <vt:lpstr>Descripción del Dataset</vt:lpstr>
      <vt:lpstr>Metodología del Análisis</vt:lpstr>
      <vt:lpstr>EDA (Exploración Inicial)</vt:lpstr>
      <vt:lpstr>ANOVA por Región </vt:lpstr>
      <vt:lpstr>Test no paramétrico (Kruskal–Wallis)</vt:lpstr>
      <vt:lpstr>Comparaciones Post-Hoc (Tukey)</vt:lpstr>
      <vt:lpstr>Regresión Lineal Múltiple</vt:lpstr>
      <vt:lpstr>Interpretación General</vt:lpstr>
      <vt:lpstr>Conclusión Final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Análisis Exploratorio, ANOVA y Regresión – Base Araucano</dc:title>
  <dc:creator>Usuario</dc:creator>
  <cp:lastModifiedBy>Usuario</cp:lastModifiedBy>
  <cp:revision>4</cp:revision>
  <dcterms:created xsi:type="dcterms:W3CDTF">2025-12-03T11:13:11Z</dcterms:created>
  <dcterms:modified xsi:type="dcterms:W3CDTF">2025-12-03T11:40:33Z</dcterms:modified>
</cp:coreProperties>
</file>